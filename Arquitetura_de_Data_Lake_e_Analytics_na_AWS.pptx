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Inter"/>
      <p:regular r:id="rId37"/>
      <p:bold r:id="rId38"/>
      <p:italic r:id="rId39"/>
      <p:boldItalic r:id="rId40"/>
    </p:embeddedFont>
    <p:embeddedFont>
      <p:font typeface="Outfit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Outfit-bold.fntdata"/><Relationship Id="rId41" Type="http://schemas.openxmlformats.org/officeDocument/2006/relationships/font" Target="fonts/Outfit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Inter-italic.fntdata"/><Relationship Id="rId16" Type="http://schemas.openxmlformats.org/officeDocument/2006/relationships/slide" Target="slides/slide11.xml"/><Relationship Id="rId38" Type="http://schemas.openxmlformats.org/officeDocument/2006/relationships/font" Target="fonts/Int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F3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0" y="4916685"/>
            <a:ext cx="762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38187" y="1903214"/>
            <a:ext cx="10715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COMPUTAÇÃO EM NUVEM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0296" y="2246114"/>
            <a:ext cx="11251406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Data Lake &amp; Analytics na AWS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24125" y="3983235"/>
            <a:ext cx="7143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 armazenamento bruto à inteligência de dados de alta performance.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419725" y="2700337"/>
            <a:ext cx="1352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532929" y="3043237"/>
            <a:ext cx="912614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Introdução a Data Lakes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78502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64227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449952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609600" y="1853505"/>
            <a:ext cx="720090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O que é um Data Lake?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2737395"/>
            <a:ext cx="52292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Repositório centralizado: Única fonte da verdade.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33450" y="3594645"/>
            <a:ext cx="5257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Múltiplos formatos: Dados estruturados, semi e não estruturados.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4451895"/>
            <a:ext cx="52292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Escala ilimitada: Armazenamento desacoplado do processamento.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609600" y="3024187"/>
            <a:ext cx="3505200" cy="1743075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343400" y="2924175"/>
            <a:ext cx="3505200" cy="19431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8077200" y="3024187"/>
            <a:ext cx="3505200" cy="1743075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33289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125" y="32289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5487" y="33289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-381000" y="1990725"/>
            <a:ext cx="12954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Terminologia na AWS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1962" y="3862387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Buckets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52450" y="4262437"/>
            <a:ext cx="361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Contêiner principal de alto nível.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195762" y="3762375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Objetos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286250" y="4162425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Arquivos, dados e seus metadados.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929562" y="3862387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Prefixos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020050" y="4262437"/>
            <a:ext cx="361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Estrutura lógica de pastas virtuais.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5405437" y="2700337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02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014489" y="3043237"/>
            <a:ext cx="416302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Amazon S3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609600" y="3481387"/>
            <a:ext cx="5486400" cy="933450"/>
          </a:xfrm>
          <a:prstGeom prst="roundRect">
            <a:avLst>
              <a:gd fmla="val 12244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09600" y="4643437"/>
            <a:ext cx="5486400" cy="762000"/>
          </a:xfrm>
          <a:prstGeom prst="roundRect">
            <a:avLst>
              <a:gd fmla="val 15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8720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609600" y="1452562"/>
            <a:ext cx="58607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Armazenamento Escalável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09600" y="2824162"/>
            <a:ext cx="685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camada base onde todos os dados repousam.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38200" y="3709987"/>
            <a:ext cx="62007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11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371600" y="3833812"/>
            <a:ext cx="47267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Noves de durabilidade (99.999999999%).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447800" y="4910137"/>
            <a:ext cx="3738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Acesso puramente via API REST.</a:t>
            </a:r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600" y="1804975"/>
            <a:ext cx="5486400" cy="304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1809750" y="3052762"/>
            <a:ext cx="3924300" cy="1685925"/>
          </a:xfrm>
          <a:prstGeom prst="roundRect">
            <a:avLst>
              <a:gd fmla="val 9039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457950" y="3052762"/>
            <a:ext cx="3924300" cy="1685925"/>
          </a:xfrm>
          <a:prstGeom prst="roundRect">
            <a:avLst>
              <a:gd fmla="val 9039" name="adj"/>
            </a:avLst>
          </a:prstGeom>
          <a:solidFill>
            <a:srgbClr val="FFFFFF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650" y="374332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3009900" y="2119312"/>
            <a:ext cx="81010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Arquitetura de Camadas (Prefixos)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1721643" y="3452812"/>
            <a:ext cx="4100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Camada Raw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1819275" y="3938587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Dados brutos, formato original, sem alterações.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369843" y="3452812"/>
            <a:ext cx="4100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Camada Curated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467475" y="3938587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Dados limpos, particionados (Parquet/ORC).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1333500" y="2809875"/>
            <a:ext cx="4610100" cy="2171700"/>
          </a:xfrm>
          <a:prstGeom prst="roundRect">
            <a:avLst>
              <a:gd fmla="val 5263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6248400" y="2809875"/>
            <a:ext cx="4610100" cy="2171700"/>
          </a:xfrm>
          <a:prstGeom prst="roundRect">
            <a:avLst>
              <a:gd fmla="val 5263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31908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190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3438525" y="1876425"/>
            <a:ext cx="697587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Segurança e Gestão de Custos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1714500" y="3648075"/>
            <a:ext cx="50506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Controle de Acesso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1714500" y="4086225"/>
            <a:ext cx="481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Políticas de Bucket exclusivas.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1714500" y="4400550"/>
            <a:ext cx="481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Integração profunda com IAM Roles.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629400" y="3648075"/>
            <a:ext cx="50506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Lifecycle Rules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629400" y="4086225"/>
            <a:ext cx="481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Transição automática para S3 Glacier.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629400" y="4400550"/>
            <a:ext cx="481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Expiração de dados antigos programada.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405437" y="2700337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03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2264271" y="3043237"/>
            <a:ext cx="766345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AWS Glue DataBrew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3051869" y="2101304"/>
            <a:ext cx="608826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Data Profiling Automático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1333500" y="2806154"/>
            <a:ext cx="9525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Avaliação instantânea de anomalias e completude sem escrever código.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3901678" y="3994695"/>
            <a:ext cx="25122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3901678" y="4556670"/>
            <a:ext cx="2512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Visualização de schema.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6356746" y="3994695"/>
            <a:ext cx="186928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Zero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356746" y="4556670"/>
            <a:ext cx="1869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Scripts de análise.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2432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7195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41957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609600" y="2428875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Limpeza No-Code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1000125" y="3228975"/>
            <a:ext cx="6467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250+ transformações pré-construídas.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1000125" y="3705225"/>
            <a:ext cx="6467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Remoção visual de nulos e duplicatas.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971550" y="4181475"/>
            <a:ext cx="64960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Aplicação de regras de qualidade estritas.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>
            <a:off x="1809750" y="2628900"/>
            <a:ext cx="8572500" cy="2533650"/>
          </a:xfrm>
          <a:prstGeom prst="roundRect">
            <a:avLst>
              <a:gd fmla="val 4511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1819275" y="2638425"/>
            <a:ext cx="4271962" cy="2514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6091237" y="2638425"/>
            <a:ext cx="4281487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2200275" y="3419475"/>
            <a:ext cx="350996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6091237" y="2638425"/>
            <a:ext cx="9525" cy="2514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6481762" y="3419475"/>
            <a:ext cx="3509962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4076700" y="1695450"/>
            <a:ext cx="53006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DataBrew vs. Glue ETL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2200275" y="3019425"/>
            <a:ext cx="378547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Glue DataBrew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2200275" y="3667125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Totalmente visual e interativo.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2200275" y="4019550"/>
            <a:ext cx="36052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Foco em higienização e analistas de dados.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2200275" y="4572000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Rápida criação de receitas prontas.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6481762" y="3019425"/>
            <a:ext cx="378547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Glue ETL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6481762" y="3667125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Código programático (PySpark/Scala).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6481762" y="4019550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Foco em engenharia pesada e escala.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6481762" y="4371975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Transformações e joins complexos.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5400675" y="2700337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04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4258270" y="3043237"/>
            <a:ext cx="367545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AWS Glue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/>
          <p:nvPr/>
        </p:nvSpPr>
        <p:spPr>
          <a:xfrm>
            <a:off x="1333500" y="2928937"/>
            <a:ext cx="4610100" cy="1933575"/>
          </a:xfrm>
          <a:prstGeom prst="roundRect">
            <a:avLst>
              <a:gd fmla="val 5911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6248400" y="2928937"/>
            <a:ext cx="4610100" cy="1933575"/>
          </a:xfrm>
          <a:prstGeom prst="roundRect">
            <a:avLst>
              <a:gd fmla="val 5911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525" y="32337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4850" y="32337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/>
        </p:nvSpPr>
        <p:spPr>
          <a:xfrm>
            <a:off x="3919537" y="1995487"/>
            <a:ext cx="57132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Data Catalog e Crawlers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1013221" y="3919537"/>
            <a:ext cx="52506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O Metastore Central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1138237" y="4357687"/>
            <a:ext cx="5000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Mapeia onde os dados estão e sua estrutura.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5928121" y="3919537"/>
            <a:ext cx="52506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Crawlers Automáticos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6053137" y="4357687"/>
            <a:ext cx="5000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Inferência de schema lendo os arquivos no S3.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/>
        </p:nvSpPr>
        <p:spPr>
          <a:xfrm>
            <a:off x="609600" y="2390775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ETL Serverless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609600" y="3267075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Execução via Apache Spark.</a:t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609600" y="3743325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infraestrutura.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Sem servidores para gerenciar.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609600" y="4219575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Escalonamento automático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recursos sob demanda.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/>
          <p:nvPr/>
        </p:nvSpPr>
        <p:spPr>
          <a:xfrm>
            <a:off x="1333500" y="3224212"/>
            <a:ext cx="3022550" cy="1343025"/>
          </a:xfrm>
          <a:prstGeom prst="roundRect">
            <a:avLst>
              <a:gd fmla="val 851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4584650" y="3224212"/>
            <a:ext cx="3022550" cy="1343025"/>
          </a:xfrm>
          <a:prstGeom prst="roundRect">
            <a:avLst>
              <a:gd fmla="val 851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7835800" y="3224212"/>
            <a:ext cx="3022550" cy="1343025"/>
          </a:xfrm>
          <a:prstGeom prst="roundRect">
            <a:avLst>
              <a:gd fmla="val 851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3829050" y="2290762"/>
            <a:ext cx="595074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Integração Nativa com S3</a:t>
            </a:r>
            <a:endParaRPr/>
          </a:p>
        </p:txBody>
      </p:sp>
      <p:sp>
        <p:nvSpPr>
          <p:cNvPr id="261" name="Google Shape;261;p28"/>
          <p:cNvSpPr txBox="1"/>
          <p:nvPr/>
        </p:nvSpPr>
        <p:spPr>
          <a:xfrm>
            <a:off x="1261276" y="3529012"/>
            <a:ext cx="31669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1. Leitura</a:t>
            </a:r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1336681" y="3881437"/>
            <a:ext cx="3016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Busca os dados raw instantaneamente.</a:t>
            </a:r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4512426" y="3529012"/>
            <a:ext cx="31669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2. Conversão</a:t>
            </a:r>
            <a:endParaRPr/>
          </a:p>
        </p:txBody>
      </p:sp>
      <p:sp>
        <p:nvSpPr>
          <p:cNvPr id="264" name="Google Shape;264;p28"/>
          <p:cNvSpPr txBox="1"/>
          <p:nvPr/>
        </p:nvSpPr>
        <p:spPr>
          <a:xfrm>
            <a:off x="4587831" y="3881437"/>
            <a:ext cx="3016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Transição de CSV/JSON para formato Parquet.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7763577" y="3529012"/>
            <a:ext cx="31669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3. Gravação</a:t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7838981" y="3881437"/>
            <a:ext cx="3016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Escrita particionada lógica na camada Curated.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5405437" y="2700337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05</a:t>
            </a:r>
            <a:endParaRPr/>
          </a:p>
        </p:txBody>
      </p:sp>
      <p:sp>
        <p:nvSpPr>
          <p:cNvPr id="273" name="Google Shape;273;p29"/>
          <p:cNvSpPr txBox="1"/>
          <p:nvPr/>
        </p:nvSpPr>
        <p:spPr>
          <a:xfrm>
            <a:off x="3620690" y="3043237"/>
            <a:ext cx="49506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Amazon EMR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36385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40195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44005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/>
        </p:nvSpPr>
        <p:spPr>
          <a:xfrm>
            <a:off x="6096000" y="2243137"/>
            <a:ext cx="609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Ecossistema Big Data</a:t>
            </a:r>
            <a:endParaRPr/>
          </a:p>
        </p:txBody>
      </p:sp>
      <p:sp>
        <p:nvSpPr>
          <p:cNvPr id="284" name="Google Shape;284;p30"/>
          <p:cNvSpPr txBox="1"/>
          <p:nvPr/>
        </p:nvSpPr>
        <p:spPr>
          <a:xfrm>
            <a:off x="6096000" y="3119437"/>
            <a:ext cx="6096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Clusters gerenciados para frameworks abertos.</a:t>
            </a:r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6381750" y="3624262"/>
            <a:ext cx="581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Apache Hadoop e Spark nativos.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6381750" y="4005262"/>
            <a:ext cx="581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Processamento de petabytes.</a:t>
            </a:r>
            <a:endParaRPr/>
          </a:p>
        </p:txBody>
      </p:sp>
      <p:sp>
        <p:nvSpPr>
          <p:cNvPr id="287" name="Google Shape;287;p30"/>
          <p:cNvSpPr txBox="1"/>
          <p:nvPr/>
        </p:nvSpPr>
        <p:spPr>
          <a:xfrm>
            <a:off x="6381750" y="4386262"/>
            <a:ext cx="581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Integração nativa com Data Catalog.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/>
          <p:nvPr/>
        </p:nvSpPr>
        <p:spPr>
          <a:xfrm>
            <a:off x="2286000" y="2300287"/>
            <a:ext cx="7620000" cy="962025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2286000" y="3414712"/>
            <a:ext cx="7620000" cy="962025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2286000" y="4529137"/>
            <a:ext cx="7620000" cy="962025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2286000" y="2300287"/>
            <a:ext cx="57150" cy="96202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2286000" y="3414712"/>
            <a:ext cx="57150" cy="9620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2286000" y="4529137"/>
            <a:ext cx="57150" cy="9620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3043237" y="1366837"/>
            <a:ext cx="801350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Dimensionamento e Controle Total</a:t>
            </a:r>
            <a:endParaRPr/>
          </a:p>
        </p:txBody>
      </p:sp>
      <p:sp>
        <p:nvSpPr>
          <p:cNvPr id="299" name="Google Shape;299;p31"/>
          <p:cNvSpPr txBox="1"/>
          <p:nvPr/>
        </p:nvSpPr>
        <p:spPr>
          <a:xfrm>
            <a:off x="2571750" y="2528887"/>
            <a:ext cx="93261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Master Node</a:t>
            </a:r>
            <a:endParaRPr/>
          </a:p>
        </p:txBody>
      </p:sp>
      <p:sp>
        <p:nvSpPr>
          <p:cNvPr id="300" name="Google Shape;300;p31"/>
          <p:cNvSpPr txBox="1"/>
          <p:nvPr/>
        </p:nvSpPr>
        <p:spPr>
          <a:xfrm>
            <a:off x="2571750" y="2843212"/>
            <a:ext cx="88820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Gerencia o cluster e o status das tarefas.</a:t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>
            <a:off x="2571750" y="3643312"/>
            <a:ext cx="93261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Core Nodes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2571750" y="3957637"/>
            <a:ext cx="88820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Executam tarefas e armazenam dados locais.</a:t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2571750" y="4757737"/>
            <a:ext cx="93261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Task Nodes</a:t>
            </a:r>
            <a:endParaRPr/>
          </a:p>
        </p:txBody>
      </p:sp>
      <p:sp>
        <p:nvSpPr>
          <p:cNvPr id="304" name="Google Shape;304;p31"/>
          <p:cNvSpPr txBox="1"/>
          <p:nvPr/>
        </p:nvSpPr>
        <p:spPr>
          <a:xfrm>
            <a:off x="2571750" y="5072062"/>
            <a:ext cx="88820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Apenas processamento. Escalabilidade rápida.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/>
          <p:nvPr/>
        </p:nvSpPr>
        <p:spPr>
          <a:xfrm>
            <a:off x="2633662" y="3276600"/>
            <a:ext cx="6924675" cy="1847850"/>
          </a:xfrm>
          <a:prstGeom prst="roundRect">
            <a:avLst>
              <a:gd fmla="val 6185" name="adj"/>
            </a:avLst>
          </a:prstGeom>
          <a:solidFill>
            <a:srgbClr val="FEFCE8"/>
          </a:solidFill>
          <a:ln cap="flat" cmpd="sng" w="19050">
            <a:solidFill>
              <a:srgbClr val="FEF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0" name="Google Shape;3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335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 txBox="1"/>
          <p:nvPr/>
        </p:nvSpPr>
        <p:spPr>
          <a:xfrm>
            <a:off x="2701825" y="2571750"/>
            <a:ext cx="678834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Limitações EMR: Learner Lab</a:t>
            </a:r>
            <a:endParaRPr/>
          </a:p>
        </p:txBody>
      </p:sp>
      <p:sp>
        <p:nvSpPr>
          <p:cNvPr id="312" name="Google Shape;312;p32"/>
          <p:cNvSpPr txBox="1"/>
          <p:nvPr/>
        </p:nvSpPr>
        <p:spPr>
          <a:xfrm>
            <a:off x="2268140" y="3676650"/>
            <a:ext cx="76557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Cotas severas de vCPU.</a:t>
            </a:r>
            <a:endParaRPr/>
          </a:p>
        </p:txBody>
      </p:sp>
      <p:sp>
        <p:nvSpPr>
          <p:cNvPr id="313" name="Google Shape;313;p32"/>
          <p:cNvSpPr txBox="1"/>
          <p:nvPr/>
        </p:nvSpPr>
        <p:spPr>
          <a:xfrm>
            <a:off x="2268140" y="4076700"/>
            <a:ext cx="76557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Muitos tipos de instâncias estão </a:t>
            </a:r>
            <a:r>
              <a:rPr b="1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bloqueados</a:t>
            </a:r>
            <a:r>
              <a:rPr b="0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 para estudantes.</a:t>
            </a:r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2268140" y="4476750"/>
            <a:ext cx="76557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Por isso, prefira </a:t>
            </a:r>
            <a:r>
              <a:rPr b="1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AWS Glue</a:t>
            </a:r>
            <a:r>
              <a:rPr b="0" i="0" lang="en-US" sz="165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 para laboratórios educacionais.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5405437" y="2700337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06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3120628" y="3043237"/>
            <a:ext cx="595074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Amazon Athena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/>
        </p:nvSpPr>
        <p:spPr>
          <a:xfrm>
            <a:off x="3233142" y="2354609"/>
            <a:ext cx="572571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SQL Direto no Data Lake</a:t>
            </a:r>
            <a:endParaRPr/>
          </a:p>
        </p:txBody>
      </p:sp>
      <p:sp>
        <p:nvSpPr>
          <p:cNvPr id="327" name="Google Shape;327;p34"/>
          <p:cNvSpPr txBox="1"/>
          <p:nvPr/>
        </p:nvSpPr>
        <p:spPr>
          <a:xfrm>
            <a:off x="160734" y="3059459"/>
            <a:ext cx="11870531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Consultas Ad-Hoc 100% Serverless.</a:t>
            </a:r>
            <a:endParaRPr/>
          </a:p>
        </p:txBody>
      </p:sp>
      <p:sp>
        <p:nvSpPr>
          <p:cNvPr id="328" name="Google Shape;328;p34"/>
          <p:cNvSpPr txBox="1"/>
          <p:nvPr/>
        </p:nvSpPr>
        <p:spPr>
          <a:xfrm>
            <a:off x="1928812" y="3950940"/>
            <a:ext cx="8334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 necessidade de mover dados ou gerenciar infraestrutura de banco.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/>
          <p:nvPr/>
        </p:nvSpPr>
        <p:spPr>
          <a:xfrm>
            <a:off x="1809750" y="3186112"/>
            <a:ext cx="2705100" cy="1419225"/>
          </a:xfrm>
          <a:prstGeom prst="roundRect">
            <a:avLst>
              <a:gd fmla="val 8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4743450" y="3186112"/>
            <a:ext cx="2705100" cy="1419225"/>
          </a:xfrm>
          <a:prstGeom prst="roundRect">
            <a:avLst>
              <a:gd fmla="val 8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7677150" y="3186112"/>
            <a:ext cx="2705100" cy="1419225"/>
          </a:xfrm>
          <a:prstGeom prst="roundRect">
            <a:avLst>
              <a:gd fmla="val 8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1809750" y="3186112"/>
            <a:ext cx="27051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4743450" y="3186112"/>
            <a:ext cx="27051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7677150" y="3186112"/>
            <a:ext cx="27051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4024312" y="2252662"/>
            <a:ext cx="543817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Técnicas de Otimização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2114550" y="3529012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Particionamento</a:t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2114550" y="3919537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Filtra pastas específicas (ex: ano=2026).</a:t>
            </a:r>
            <a:endParaRPr/>
          </a:p>
        </p:txBody>
      </p:sp>
      <p:sp>
        <p:nvSpPr>
          <p:cNvPr id="342" name="Google Shape;342;p35"/>
          <p:cNvSpPr txBox="1"/>
          <p:nvPr/>
        </p:nvSpPr>
        <p:spPr>
          <a:xfrm>
            <a:off x="5048250" y="3529012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Formatos Colunares</a:t>
            </a:r>
            <a:endParaRPr/>
          </a:p>
        </p:txBody>
      </p:sp>
      <p:sp>
        <p:nvSpPr>
          <p:cNvPr id="343" name="Google Shape;343;p35"/>
          <p:cNvSpPr txBox="1"/>
          <p:nvPr/>
        </p:nvSpPr>
        <p:spPr>
          <a:xfrm>
            <a:off x="5048250" y="3919537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estrito de Parquet ou ORC.</a:t>
            </a:r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7981950" y="3529012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Compressão</a:t>
            </a:r>
            <a:endParaRPr/>
          </a:p>
        </p:txBody>
      </p:sp>
      <p:sp>
        <p:nvSpPr>
          <p:cNvPr id="345" name="Google Shape;345;p35"/>
          <p:cNvSpPr txBox="1"/>
          <p:nvPr/>
        </p:nvSpPr>
        <p:spPr>
          <a:xfrm>
            <a:off x="7981950" y="3919537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Diminui drásticamente bytes lidos (Snappy/Gzip).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609600" y="4024312"/>
            <a:ext cx="4876800" cy="914400"/>
          </a:xfrm>
          <a:prstGeom prst="roundRect">
            <a:avLst>
              <a:gd fmla="val 125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6705600" y="2609850"/>
            <a:ext cx="4876800" cy="1638300"/>
          </a:xfrm>
          <a:prstGeom prst="roundRect">
            <a:avLst>
              <a:gd fmla="val 6976" name="adj"/>
            </a:avLst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291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6"/>
          <p:cNvSpPr txBox="1"/>
          <p:nvPr/>
        </p:nvSpPr>
        <p:spPr>
          <a:xfrm>
            <a:off x="609600" y="1919287"/>
            <a:ext cx="52206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Modelo de Custos Athena</a:t>
            </a:r>
            <a:endParaRPr/>
          </a:p>
        </p:txBody>
      </p:sp>
      <p:sp>
        <p:nvSpPr>
          <p:cNvPr id="355" name="Google Shape;355;p36"/>
          <p:cNvSpPr txBox="1"/>
          <p:nvPr/>
        </p:nvSpPr>
        <p:spPr>
          <a:xfrm>
            <a:off x="609600" y="3367087"/>
            <a:ext cx="6096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Bilhetagem puramente por consumo.</a:t>
            </a:r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7010400" y="2914650"/>
            <a:ext cx="4362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categoria, </a:t>
            </a:r>
            <a:r>
              <a:rPr b="0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35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(valor) </a:t>
            </a:r>
            <a:r>
              <a:rPr b="0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"db_lake"."vendas" </a:t>
            </a:r>
            <a:r>
              <a:rPr b="0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ano = '2026' </a:t>
            </a:r>
            <a:r>
              <a:rPr b="0" i="0" lang="en-US" sz="135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b="0" i="0" lang="en-US" sz="135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categoria;</a:t>
            </a:r>
            <a:endParaRPr/>
          </a:p>
        </p:txBody>
      </p:sp>
      <p:sp>
        <p:nvSpPr>
          <p:cNvPr id="357" name="Google Shape;357;p36"/>
          <p:cNvSpPr txBox="1"/>
          <p:nvPr/>
        </p:nvSpPr>
        <p:spPr>
          <a:xfrm>
            <a:off x="1447800" y="4252912"/>
            <a:ext cx="3881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Cobrança por volume varrido.</a:t>
            </a:r>
            <a:endParaRPr/>
          </a:p>
        </p:txBody>
      </p:sp>
      <p:sp>
        <p:nvSpPr>
          <p:cNvPr id="358" name="Google Shape;358;p36"/>
          <p:cNvSpPr txBox="1"/>
          <p:nvPr/>
        </p:nvSpPr>
        <p:spPr>
          <a:xfrm>
            <a:off x="1447800" y="4519612"/>
            <a:ext cx="3881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Paga-se por Terabyte escaneado na query.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7"/>
          <p:cNvSpPr txBox="1"/>
          <p:nvPr/>
        </p:nvSpPr>
        <p:spPr>
          <a:xfrm>
            <a:off x="5410200" y="2700337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07</a:t>
            </a:r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2901850" y="3043237"/>
            <a:ext cx="638829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Amazon Redshift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/>
          <p:nvPr/>
        </p:nvSpPr>
        <p:spPr>
          <a:xfrm>
            <a:off x="609600" y="3600450"/>
            <a:ext cx="3810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8"/>
          <p:cNvSpPr/>
          <p:nvPr/>
        </p:nvSpPr>
        <p:spPr>
          <a:xfrm>
            <a:off x="609600" y="3981450"/>
            <a:ext cx="3810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8"/>
          <p:cNvSpPr/>
          <p:nvPr/>
        </p:nvSpPr>
        <p:spPr>
          <a:xfrm>
            <a:off x="609600" y="4362450"/>
            <a:ext cx="3810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8"/>
          <p:cNvSpPr txBox="1"/>
          <p:nvPr/>
        </p:nvSpPr>
        <p:spPr>
          <a:xfrm>
            <a:off x="609600" y="226695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Data Warehouse OLAP</a:t>
            </a:r>
            <a:endParaRPr/>
          </a:p>
        </p:txBody>
      </p:sp>
      <p:sp>
        <p:nvSpPr>
          <p:cNvPr id="376" name="Google Shape;376;p38"/>
          <p:cNvSpPr txBox="1"/>
          <p:nvPr/>
        </p:nvSpPr>
        <p:spPr>
          <a:xfrm>
            <a:off x="609600" y="306705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Desempenho máximo para modelagem estruturada.</a:t>
            </a:r>
            <a:endParaRPr/>
          </a:p>
        </p:txBody>
      </p:sp>
      <p:sp>
        <p:nvSpPr>
          <p:cNvPr id="377" name="Google Shape;377;p38"/>
          <p:cNvSpPr txBox="1"/>
          <p:nvPr/>
        </p:nvSpPr>
        <p:spPr>
          <a:xfrm>
            <a:off x="762000" y="3600450"/>
            <a:ext cx="670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Cargas analíticas altamente complexas.</a:t>
            </a:r>
            <a:endParaRPr/>
          </a:p>
        </p:txBody>
      </p:sp>
      <p:sp>
        <p:nvSpPr>
          <p:cNvPr id="378" name="Google Shape;378;p38"/>
          <p:cNvSpPr txBox="1"/>
          <p:nvPr/>
        </p:nvSpPr>
        <p:spPr>
          <a:xfrm>
            <a:off x="762000" y="3981450"/>
            <a:ext cx="670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Estrutura de dados totalmente colunar.</a:t>
            </a:r>
            <a:endParaRPr/>
          </a:p>
        </p:txBody>
      </p:sp>
      <p:sp>
        <p:nvSpPr>
          <p:cNvPr id="379" name="Google Shape;379;p38"/>
          <p:cNvSpPr txBox="1"/>
          <p:nvPr/>
        </p:nvSpPr>
        <p:spPr>
          <a:xfrm>
            <a:off x="762000" y="4362450"/>
            <a:ext cx="670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Dashboards e Business Intelligence.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3233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3425" y="32337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9"/>
          <p:cNvSpPr txBox="1"/>
          <p:nvPr/>
        </p:nvSpPr>
        <p:spPr>
          <a:xfrm>
            <a:off x="4452937" y="2300287"/>
            <a:ext cx="431303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Redshift Spectrum</a:t>
            </a:r>
            <a:endParaRPr/>
          </a:p>
        </p:txBody>
      </p:sp>
      <p:sp>
        <p:nvSpPr>
          <p:cNvPr id="387" name="Google Shape;387;p39"/>
          <p:cNvSpPr txBox="1"/>
          <p:nvPr/>
        </p:nvSpPr>
        <p:spPr>
          <a:xfrm>
            <a:off x="613171" y="3919537"/>
            <a:ext cx="60507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Consulta Estendida</a:t>
            </a:r>
            <a:endParaRPr/>
          </a:p>
        </p:txBody>
      </p:sp>
      <p:sp>
        <p:nvSpPr>
          <p:cNvPr id="388" name="Google Shape;388;p39"/>
          <p:cNvSpPr txBox="1"/>
          <p:nvPr/>
        </p:nvSpPr>
        <p:spPr>
          <a:xfrm>
            <a:off x="757237" y="4357687"/>
            <a:ext cx="5762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Execute SQL nos dados do S3 diretamente do DW.</a:t>
            </a:r>
            <a:endParaRPr/>
          </a:p>
        </p:txBody>
      </p:sp>
      <p:sp>
        <p:nvSpPr>
          <p:cNvPr id="389" name="Google Shape;389;p39"/>
          <p:cNvSpPr txBox="1"/>
          <p:nvPr/>
        </p:nvSpPr>
        <p:spPr>
          <a:xfrm>
            <a:off x="5528071" y="3919537"/>
            <a:ext cx="60507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Sem Movimentação</a:t>
            </a:r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5672137" y="4357687"/>
            <a:ext cx="5762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 a necessidade de rotinas lentas de carga física.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/>
          <p:nvPr/>
        </p:nvSpPr>
        <p:spPr>
          <a:xfrm>
            <a:off x="1809750" y="2628900"/>
            <a:ext cx="8572500" cy="2533650"/>
          </a:xfrm>
          <a:prstGeom prst="roundRect">
            <a:avLst>
              <a:gd fmla="val 4511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1819275" y="2638425"/>
            <a:ext cx="4271962" cy="2514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/>
          <p:cNvSpPr/>
          <p:nvPr/>
        </p:nvSpPr>
        <p:spPr>
          <a:xfrm>
            <a:off x="6091237" y="2638425"/>
            <a:ext cx="4281487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0"/>
          <p:cNvSpPr/>
          <p:nvPr/>
        </p:nvSpPr>
        <p:spPr>
          <a:xfrm>
            <a:off x="2200275" y="3419475"/>
            <a:ext cx="3509962" cy="1905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0"/>
          <p:cNvSpPr/>
          <p:nvPr/>
        </p:nvSpPr>
        <p:spPr>
          <a:xfrm>
            <a:off x="6091237" y="2638425"/>
            <a:ext cx="9525" cy="2514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6481762" y="3419475"/>
            <a:ext cx="3509962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0"/>
          <p:cNvSpPr txBox="1"/>
          <p:nvPr/>
        </p:nvSpPr>
        <p:spPr>
          <a:xfrm>
            <a:off x="4052887" y="1695450"/>
            <a:ext cx="536317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Decisão de Arquitetura</a:t>
            </a:r>
            <a:endParaRPr/>
          </a:p>
        </p:txBody>
      </p:sp>
      <p:sp>
        <p:nvSpPr>
          <p:cNvPr id="402" name="Google Shape;402;p40"/>
          <p:cNvSpPr txBox="1"/>
          <p:nvPr/>
        </p:nvSpPr>
        <p:spPr>
          <a:xfrm>
            <a:off x="2200275" y="3019425"/>
            <a:ext cx="378547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S3 + Athena</a:t>
            </a:r>
            <a:endParaRPr/>
          </a:p>
        </p:txBody>
      </p:sp>
      <p:sp>
        <p:nvSpPr>
          <p:cNvPr id="403" name="Google Shape;403;p40"/>
          <p:cNvSpPr txBox="1"/>
          <p:nvPr/>
        </p:nvSpPr>
        <p:spPr>
          <a:xfrm>
            <a:off x="2200275" y="3667125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Alta flexibilidade.</a:t>
            </a:r>
            <a:endParaRPr/>
          </a:p>
        </p:txBody>
      </p:sp>
      <p:sp>
        <p:nvSpPr>
          <p:cNvPr id="404" name="Google Shape;404;p40"/>
          <p:cNvSpPr txBox="1"/>
          <p:nvPr/>
        </p:nvSpPr>
        <p:spPr>
          <a:xfrm>
            <a:off x="2200275" y="4019550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Análises exploratórias casuais.</a:t>
            </a:r>
            <a:endParaRPr/>
          </a:p>
        </p:txBody>
      </p:sp>
      <p:sp>
        <p:nvSpPr>
          <p:cNvPr id="405" name="Google Shape;405;p40"/>
          <p:cNvSpPr txBox="1"/>
          <p:nvPr/>
        </p:nvSpPr>
        <p:spPr>
          <a:xfrm>
            <a:off x="2200275" y="4371975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 zero de infra ociosa.</a:t>
            </a:r>
            <a:endParaRPr/>
          </a:p>
        </p:txBody>
      </p:sp>
      <p:sp>
        <p:nvSpPr>
          <p:cNvPr id="406" name="Google Shape;406;p40"/>
          <p:cNvSpPr txBox="1"/>
          <p:nvPr/>
        </p:nvSpPr>
        <p:spPr>
          <a:xfrm>
            <a:off x="6481762" y="3019425"/>
            <a:ext cx="378547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Redshift</a:t>
            </a:r>
            <a:endParaRPr/>
          </a:p>
        </p:txBody>
      </p:sp>
      <p:sp>
        <p:nvSpPr>
          <p:cNvPr id="407" name="Google Shape;407;p40"/>
          <p:cNvSpPr txBox="1"/>
          <p:nvPr/>
        </p:nvSpPr>
        <p:spPr>
          <a:xfrm>
            <a:off x="6481762" y="3667125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Relatórios recorrentes e BI.</a:t>
            </a:r>
            <a:endParaRPr/>
          </a:p>
        </p:txBody>
      </p:sp>
      <p:sp>
        <p:nvSpPr>
          <p:cNvPr id="408" name="Google Shape;408;p40"/>
          <p:cNvSpPr txBox="1"/>
          <p:nvPr/>
        </p:nvSpPr>
        <p:spPr>
          <a:xfrm>
            <a:off x="6481762" y="4019550"/>
            <a:ext cx="43874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Performance bruta sob demanda alta.</a:t>
            </a:r>
            <a:endParaRPr/>
          </a:p>
        </p:txBody>
      </p:sp>
      <p:sp>
        <p:nvSpPr>
          <p:cNvPr id="409" name="Google Shape;409;p40"/>
          <p:cNvSpPr txBox="1"/>
          <p:nvPr/>
        </p:nvSpPr>
        <p:spPr>
          <a:xfrm>
            <a:off x="6481762" y="4371975"/>
            <a:ext cx="36052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 fixo por cluster (ou serverless base).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/>
          <p:nvPr/>
        </p:nvSpPr>
        <p:spPr>
          <a:xfrm>
            <a:off x="5810250" y="4119562"/>
            <a:ext cx="571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5405437" y="2700337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MÓDULO 08</a:t>
            </a:r>
            <a:endParaRPr/>
          </a:p>
        </p:txBody>
      </p:sp>
      <p:sp>
        <p:nvSpPr>
          <p:cNvPr id="416" name="Google Shape;416;p41"/>
          <p:cNvSpPr txBox="1"/>
          <p:nvPr/>
        </p:nvSpPr>
        <p:spPr>
          <a:xfrm>
            <a:off x="2070496" y="3043237"/>
            <a:ext cx="805100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AWS CloudFormation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2"/>
          <p:cNvSpPr/>
          <p:nvPr/>
        </p:nvSpPr>
        <p:spPr>
          <a:xfrm>
            <a:off x="6705600" y="2552700"/>
            <a:ext cx="4876800" cy="1752600"/>
          </a:xfrm>
          <a:prstGeom prst="roundRect">
            <a:avLst>
              <a:gd fmla="val 6521" name="adj"/>
            </a:avLst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3" name="Google Shape;4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52901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0052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48151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2"/>
          <p:cNvSpPr txBox="1"/>
          <p:nvPr/>
        </p:nvSpPr>
        <p:spPr>
          <a:xfrm>
            <a:off x="609600" y="2143125"/>
            <a:ext cx="52206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Infraestrutura como Código</a:t>
            </a:r>
            <a:endParaRPr/>
          </a:p>
        </p:txBody>
      </p:sp>
      <p:sp>
        <p:nvSpPr>
          <p:cNvPr id="427" name="Google Shape;427;p42"/>
          <p:cNvSpPr txBox="1"/>
          <p:nvPr/>
        </p:nvSpPr>
        <p:spPr>
          <a:xfrm>
            <a:off x="7010400" y="2857500"/>
            <a:ext cx="4362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Resources:</a:t>
            </a:r>
            <a:r>
              <a:rPr b="0" i="0" lang="en-US" sz="120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DataLakeBucket: </a:t>
            </a:r>
            <a:r>
              <a:rPr b="0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Type:</a:t>
            </a:r>
            <a:r>
              <a:rPr b="0" i="0" lang="en-US" sz="120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'AWS::S3::Bucket' </a:t>
            </a:r>
            <a:r>
              <a:rPr b="0" i="0" lang="en-US" sz="1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Properties:</a:t>
            </a:r>
            <a:r>
              <a:rPr b="0" i="0" lang="en-US" sz="1200" u="none" cap="none" strike="noStrike">
                <a:solidFill>
                  <a:srgbClr val="A3B8CC"/>
                </a:solidFill>
                <a:latin typeface="Arial"/>
                <a:ea typeface="Arial"/>
                <a:cs typeface="Arial"/>
                <a:sym typeface="Arial"/>
              </a:rPr>
              <a:t> BucketName: 'datalake-raw'</a:t>
            </a:r>
            <a:endParaRPr/>
          </a:p>
        </p:txBody>
      </p:sp>
      <p:sp>
        <p:nvSpPr>
          <p:cNvPr id="428" name="Google Shape;428;p42"/>
          <p:cNvSpPr txBox="1"/>
          <p:nvPr/>
        </p:nvSpPr>
        <p:spPr>
          <a:xfrm>
            <a:off x="1028700" y="3514725"/>
            <a:ext cx="5676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Templates declarativos (YAML/JSON).</a:t>
            </a:r>
            <a:endParaRPr/>
          </a:p>
        </p:txBody>
      </p:sp>
      <p:sp>
        <p:nvSpPr>
          <p:cNvPr id="429" name="Google Shape;429;p42"/>
          <p:cNvSpPr txBox="1"/>
          <p:nvPr/>
        </p:nvSpPr>
        <p:spPr>
          <a:xfrm>
            <a:off x="1028700" y="3990975"/>
            <a:ext cx="5676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Versionamento da infraestrutura.</a:t>
            </a:r>
            <a:endParaRPr/>
          </a:p>
        </p:txBody>
      </p:sp>
      <p:sp>
        <p:nvSpPr>
          <p:cNvPr id="430" name="Google Shape;430;p42"/>
          <p:cNvSpPr txBox="1"/>
          <p:nvPr/>
        </p:nvSpPr>
        <p:spPr>
          <a:xfrm>
            <a:off x="942975" y="4467225"/>
            <a:ext cx="5762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Automação sem painéis web.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/>
          <p:nvPr/>
        </p:nvSpPr>
        <p:spPr>
          <a:xfrm>
            <a:off x="1809750" y="2995612"/>
            <a:ext cx="2705100" cy="1800225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3"/>
          <p:cNvSpPr/>
          <p:nvPr/>
        </p:nvSpPr>
        <p:spPr>
          <a:xfrm>
            <a:off x="4743450" y="2995612"/>
            <a:ext cx="2705100" cy="1800225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3"/>
          <p:cNvSpPr/>
          <p:nvPr/>
        </p:nvSpPr>
        <p:spPr>
          <a:xfrm>
            <a:off x="7677150" y="2995612"/>
            <a:ext cx="2705100" cy="1800225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8" name="Google Shape;43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0" y="3300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300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6350" y="330041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3"/>
          <p:cNvSpPr txBox="1"/>
          <p:nvPr/>
        </p:nvSpPr>
        <p:spPr>
          <a:xfrm>
            <a:off x="4010025" y="2062162"/>
            <a:ext cx="547568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Gestão do Ciclo de Vida</a:t>
            </a:r>
            <a:endParaRPr/>
          </a:p>
        </p:txBody>
      </p:sp>
      <p:sp>
        <p:nvSpPr>
          <p:cNvPr id="442" name="Google Shape;442;p43"/>
          <p:cNvSpPr txBox="1"/>
          <p:nvPr/>
        </p:nvSpPr>
        <p:spPr>
          <a:xfrm>
            <a:off x="1787128" y="3757612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1. Deploy Stacks</a:t>
            </a:r>
            <a:endParaRPr/>
          </a:p>
        </p:txBody>
      </p:sp>
      <p:sp>
        <p:nvSpPr>
          <p:cNvPr id="443" name="Google Shape;443;p43"/>
          <p:cNvSpPr txBox="1"/>
          <p:nvPr/>
        </p:nvSpPr>
        <p:spPr>
          <a:xfrm>
            <a:off x="1852612" y="4110037"/>
            <a:ext cx="2619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Criação massiva em minutos.</a:t>
            </a:r>
            <a:endParaRPr/>
          </a:p>
        </p:txBody>
      </p:sp>
      <p:sp>
        <p:nvSpPr>
          <p:cNvPr id="444" name="Google Shape;444;p43"/>
          <p:cNvSpPr txBox="1"/>
          <p:nvPr/>
        </p:nvSpPr>
        <p:spPr>
          <a:xfrm>
            <a:off x="4720828" y="3757612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2. Change Sets</a:t>
            </a:r>
            <a:endParaRPr/>
          </a:p>
        </p:txBody>
      </p:sp>
      <p:sp>
        <p:nvSpPr>
          <p:cNvPr id="445" name="Google Shape;445;p43"/>
          <p:cNvSpPr txBox="1"/>
          <p:nvPr/>
        </p:nvSpPr>
        <p:spPr>
          <a:xfrm>
            <a:off x="4786312" y="4110037"/>
            <a:ext cx="2619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Atualizações seguras e previsíveis.</a:t>
            </a:r>
            <a:endParaRPr/>
          </a:p>
        </p:txBody>
      </p:sp>
      <p:sp>
        <p:nvSpPr>
          <p:cNvPr id="446" name="Google Shape;446;p43"/>
          <p:cNvSpPr txBox="1"/>
          <p:nvPr/>
        </p:nvSpPr>
        <p:spPr>
          <a:xfrm>
            <a:off x="7654528" y="3757612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F3E"/>
                </a:solidFill>
                <a:latin typeface="Outfit"/>
                <a:ea typeface="Outfit"/>
                <a:cs typeface="Outfit"/>
                <a:sym typeface="Outfit"/>
              </a:rPr>
              <a:t>3. Teardown</a:t>
            </a:r>
            <a:endParaRPr/>
          </a:p>
        </p:txBody>
      </p:sp>
      <p:sp>
        <p:nvSpPr>
          <p:cNvPr id="447" name="Google Shape;447;p43"/>
          <p:cNvSpPr txBox="1"/>
          <p:nvPr/>
        </p:nvSpPr>
        <p:spPr>
          <a:xfrm>
            <a:off x="7720012" y="4110037"/>
            <a:ext cx="2619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Limpeza total sem deixar rastros financeiros.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